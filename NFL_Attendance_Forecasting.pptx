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BE9AB-6E77-42C1-9ED3-1B06EB554AF8}" v="26" dt="2026-04-30T23:10:20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2784" autoAdjust="0"/>
  </p:normalViewPr>
  <p:slideViewPr>
    <p:cSldViewPr snapToGrid="0" snapToObjects="1">
      <p:cViewPr varScale="1"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MAE by Model &amp; Dataset Split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MAE</c:v>
                </c:pt>
              </c:strCache>
            </c:strRef>
          </c:tx>
          <c:spPr>
            <a:solidFill>
              <a:srgbClr val="1C3B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KNN (k=11)</c:v>
                </c:pt>
                <c:pt idx="2">
                  <c:v>Neural Network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6112</c:v>
                </c:pt>
                <c:pt idx="1">
                  <c:v>5952</c:v>
                </c:pt>
                <c:pt idx="2">
                  <c:v>6321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C-4679-BDB8-DBAA4AECBA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MAE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KNN (k=11)</c:v>
                </c:pt>
                <c:pt idx="2">
                  <c:v>Neural Network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5021</c:v>
                </c:pt>
                <c:pt idx="1">
                  <c:v>5398</c:v>
                </c:pt>
                <c:pt idx="2">
                  <c:v>5348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DC-4679-BDB8-DBAA4AECBA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MAE</c:v>
                </c:pt>
              </c:strCache>
            </c:strRef>
          </c:tx>
          <c:spPr>
            <a:solidFill>
              <a:srgbClr val="22A0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KNN (k=11)</c:v>
                </c:pt>
                <c:pt idx="2">
                  <c:v>Neural Network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5290</c:v>
                </c:pt>
                <c:pt idx="1">
                  <c:v>5737</c:v>
                </c:pt>
                <c:pt idx="2">
                  <c:v>5505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DC-4679-BDB8-DBAA4AECBA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661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Attendance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System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029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Attendance Prediction Using Weather,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&amp; Scheduling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 Thompson  ·  BMKT 673  · 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62179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question, data sources, and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fans will attend an upcoming NFL home game, and how confident are we in that estimate?"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6517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Schedules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nflreadpy + nflverse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 seasons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3,028 games total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103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2103120"/>
            <a:ext cx="26517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64408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4408" y="2971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/ Open-Meteo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precip, wind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venue + kickoff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25896" y="2103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25896" y="2103120"/>
            <a:ext cx="26517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25896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17336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17336" y="2971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game results (Sports Reference/ </a:t>
            </a:r>
            <a:r>
              <a:rPr lang="en-US" sz="1000" dirty="0" err="1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nflverse</a:t>
            </a: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 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days, rivalry flags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 Transform Load  Model  Dashboard</a:t>
            </a:r>
            <a:endParaRPr lang="en-US" sz="1200" dirty="0"/>
          </a:p>
        </p:txBody>
      </p:sp>
      <p:pic>
        <p:nvPicPr>
          <p:cNvPr id="27" name="Graphic 26" descr="Flip calendar with solid fill">
            <a:extLst>
              <a:ext uri="{FF2B5EF4-FFF2-40B4-BE49-F238E27FC236}">
                <a16:creationId xmlns:a16="http://schemas.microsoft.com/office/drawing/2014/main" id="{F5E26977-DA2A-9058-38D4-812630E37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5603" y="2129409"/>
            <a:ext cx="500634" cy="500634"/>
          </a:xfrm>
          <a:prstGeom prst="rect">
            <a:avLst/>
          </a:prstGeom>
        </p:spPr>
      </p:pic>
      <p:pic>
        <p:nvPicPr>
          <p:cNvPr id="29" name="Graphic 28" descr="Rain with solid fill">
            <a:extLst>
              <a:ext uri="{FF2B5EF4-FFF2-40B4-BE49-F238E27FC236}">
                <a16:creationId xmlns:a16="http://schemas.microsoft.com/office/drawing/2014/main" id="{A4A4A5F4-7932-ED6E-E1E0-6184445DE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759" y="2129409"/>
            <a:ext cx="634482" cy="634482"/>
          </a:xfrm>
          <a:prstGeom prst="rect">
            <a:avLst/>
          </a:prstGeom>
        </p:spPr>
      </p:pic>
      <p:pic>
        <p:nvPicPr>
          <p:cNvPr id="31" name="Graphic 30" descr="Bar graph with upward trend with solid fill">
            <a:extLst>
              <a:ext uri="{FF2B5EF4-FFF2-40B4-BE49-F238E27FC236}">
                <a16:creationId xmlns:a16="http://schemas.microsoft.com/office/drawing/2014/main" id="{59CE4ADF-A132-D764-3057-47DB9BE60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3915" y="2196706"/>
            <a:ext cx="546518" cy="5465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 Warehouse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3,028 games across 11 seasons (2015–2025, excl. 2020)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1572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71800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backbone — FK to all dims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952244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9522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fact_weather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19522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9522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precip, wind, severe flag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331720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fact_team_form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7180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 %, rest days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711196"/>
            <a:ext cx="73152" cy="29260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111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27111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27111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NFL franchises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090672"/>
            <a:ext cx="73152" cy="29260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dim_venue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71800" y="30906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metadata, indoor flag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3470148"/>
            <a:ext cx="73152" cy="29260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4701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0" y="34701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71800" y="34701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holiday flags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849624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ml_features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77440" y="38496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71800" y="38496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model-ready feature table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4229100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2291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model_predictions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77440" y="42291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71800" y="42291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models, all splits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26280" y="109728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26280" y="1097280"/>
            <a:ext cx="54864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117043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17720" y="181325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Games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109728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58000" y="1097280"/>
            <a:ext cx="54864" cy="123444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95160" y="117043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2,759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949440" y="181325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Rows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26280" y="251460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26280" y="2514600"/>
            <a:ext cx="54864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258775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68,385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4617720" y="323057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251460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58000" y="2514600"/>
            <a:ext cx="54864" cy="12344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95160" y="258775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7,902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949440" y="323057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Stored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26280" y="3977640"/>
            <a:ext cx="44805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17720" y="3977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Data Quality Checks enforced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&gt; 0  ·  No duplicate game IDs  ·  FK integrity  ·  Missingness &lt; 5%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Modeling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 — no data leakage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992624" cy="59436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919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2,093 games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49240" y="1051560"/>
            <a:ext cx="1609344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6733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games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95160" y="1051560"/>
            <a:ext cx="1792224" cy="5943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1051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16733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games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487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precipitation, wind speed, severe flag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3026664"/>
            <a:ext cx="201168" cy="201168"/>
          </a:xfrm>
          <a:prstGeom prst="ellipse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29352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935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 %, prior season win %, rest days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" y="347472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3383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383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holiday, holiday-adjacent, week of season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3922776"/>
            <a:ext cx="201168" cy="201168"/>
          </a:xfrm>
          <a:prstGeom prst="ellipse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3831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8313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Indoor, primetime, divisional, rivalry, neutral site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" y="4370832"/>
            <a:ext cx="201168" cy="20116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" y="4279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42793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/ Germany game flag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057400"/>
            <a:ext cx="42062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2057400"/>
            <a:ext cx="64008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240280"/>
            <a:ext cx="384048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66360" y="21122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✅ Best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66360" y="24323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Best generalizer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MAE: 5,290 fans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29718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3154680"/>
            <a:ext cx="384048" cy="38404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66360" y="30266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(k=11)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66360" y="33467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selected by grid search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MAE: 5,737 fans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8862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09160" y="4069080"/>
            <a:ext cx="384048" cy="38404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66360" y="3941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166360" y="42611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(16,8) layers + early stop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MAE: 5,505 fans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2025 Test Set (271 Games)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KNN and Neural Network on unseen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4864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1417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41018"/>
            <a:ext cx="1463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 fans off per game)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02536" y="105156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02536" y="1051560"/>
            <a:ext cx="54864" cy="118872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9696" y="1124712"/>
            <a:ext cx="1417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93976" y="1741018"/>
            <a:ext cx="1463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Percentage Error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0752" y="105156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0752" y="1051560"/>
            <a:ext cx="54864" cy="11887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7912" y="1124712"/>
            <a:ext cx="1417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22192" y="1741018"/>
            <a:ext cx="1463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predicted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5,000 fans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8968" y="105156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58968" y="1051560"/>
            <a:ext cx="54864" cy="11887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96128" y="1124712"/>
            <a:ext cx="1417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50408" y="1741018"/>
            <a:ext cx="1463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predicted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10,000 fans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87184" y="1051560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87184" y="1051560"/>
            <a:ext cx="54864" cy="1188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24344" y="1124712"/>
            <a:ext cx="1417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78624" y="1741018"/>
            <a:ext cx="1463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inside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(target: 95%)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37744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760720" y="2377440"/>
            <a:ext cx="310896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5216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852160" y="2852928"/>
            <a:ext cx="54864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961888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generalized best — simpler models win on small, noisy data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852160" y="3383280"/>
            <a:ext cx="54864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61888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R² reflects supply-constrained demand: most NFL games sell near capacity regardless of conditions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852160" y="3913632"/>
            <a:ext cx="54864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61888" y="3913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CI capture rate ≈ theoretical 95% — intervals are well-calibrated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852160" y="4443984"/>
            <a:ext cx="54864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961888" y="44439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selected k=11 via grid search — larger k reduced overfitting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Streamlit + PostgreSQL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Three-page dashboard connecting directly to the nfl_attendance database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Forecast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predicted attendance, CI width, weather risk count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551176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Game-by-game table — filterable by week, split, and team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2552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chart with 95% confidence interval band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9593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table: MAE, RMSE for all 3 models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82112" y="1097280"/>
            <a:ext cx="2743200" cy="658368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1155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76472" y="111556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Drivers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84708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precipitation scatter plots with OLS trendlines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551176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away win % vs. attendance scatters with correlations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2552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heatmap per team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39593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bars: primetime, divisional, rivalry, indoor, holiday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1097280"/>
            <a:ext cx="274320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81344" y="11155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84264" y="111556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184708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LinearRegression fitted against PostgreSQL training data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551176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Sliders: temperature, rain %, wind, win %, rest days, week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32552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Toggles: primetime, divisional, promotion, indoor, holiday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9632" y="39593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+ factor breakdown + similar historical games from DB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SQLAlchemy + psycopg2  ·  PostgreSQL 18  ·  Plotly  ·  scikit-learn  ·  pandas  ·  numpy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vs. What Didn't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and lessons learned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45720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Well-calibrated CIs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2025 actuals fell inside 95% prediction intervals — near the theoretical 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Time-based splits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2015–2023 / 2024 / 2025 splits prevented any data leakage into evaluation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 schema design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warehouse with FK integrity made queries fast and joining clean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11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Linear &gt; Complex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758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beat both KNN and Neural Network on unseen 2025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330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E2E pipeline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Model → Dashboard in a single reproducible codebase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605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Negative R²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1892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stadiums are near capacity most games — low variance makes R² misleading; MAE is the better metric here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Neural Network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8888" y="2514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on only ~2,700 training rows — deep learning needs more data to find non-linear patterns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Weather impact muted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31363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stadiums represent ~35% of games, diluting weather signal across the full dataset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2020 exclusion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37581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season had to be dropped entirely, reducing training data and creating a 2-year gap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attendance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18888" y="43799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 games had no attendance record, mostly playoff / neutral site games — required imputation strategy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dashboard.py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0" y="1783080"/>
            <a:ext cx="36576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100584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8288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Analyzed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1828800" cy="100584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0" y="2743200"/>
            <a:ext cx="18288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828800" cy="100584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18288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(fans)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828800" cy="1005840"/>
          </a:xfrm>
          <a:prstGeom prst="rect">
            <a:avLst/>
          </a:prstGeom>
          <a:solidFill>
            <a:srgbClr val="1C3B5A"/>
          </a:solidFill>
          <a:ln w="12700">
            <a:solidFill>
              <a:srgbClr val="1C3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2743200"/>
            <a:ext cx="18288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Capture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 Thompson  ·  BMKT 673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5E7993ACB88C4DADB02475D215B762" ma:contentTypeVersion="10" ma:contentTypeDescription="Create a new document." ma:contentTypeScope="" ma:versionID="5200e0d37dabae7f2d4fe007375ea2bb">
  <xsd:schema xmlns:xsd="http://www.w3.org/2001/XMLSchema" xmlns:xs="http://www.w3.org/2001/XMLSchema" xmlns:p="http://schemas.microsoft.com/office/2006/metadata/properties" xmlns:ns3="31322bdf-de49-46e9-81fc-4b1e61ee085f" xmlns:ns4="48e2727c-1966-4428-9f21-85f2b62f70be" targetNamespace="http://schemas.microsoft.com/office/2006/metadata/properties" ma:root="true" ma:fieldsID="dbfcf14db83e8f1aafd0b93c66563a4b" ns3:_="" ns4:_="">
    <xsd:import namespace="31322bdf-de49-46e9-81fc-4b1e61ee085f"/>
    <xsd:import namespace="48e2727c-1966-4428-9f21-85f2b62f70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22bdf-de49-46e9-81fc-4b1e61ee08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e2727c-1966-4428-9f21-85f2b62f70b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322bdf-de49-46e9-81fc-4b1e61ee085f" xsi:nil="true"/>
  </documentManagement>
</p:properties>
</file>

<file path=customXml/itemProps1.xml><?xml version="1.0" encoding="utf-8"?>
<ds:datastoreItem xmlns:ds="http://schemas.openxmlformats.org/officeDocument/2006/customXml" ds:itemID="{55C5DF38-E7BB-44C8-B405-63D2661AE1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322bdf-de49-46e9-81fc-4b1e61ee085f"/>
    <ds:schemaRef ds:uri="48e2727c-1966-4428-9f21-85f2b62f70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4E49BF-64E0-4782-A29C-B403DB731A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B078AD-9403-454F-94DB-74EA8FDA5AB6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48e2727c-1966-4428-9f21-85f2b62f70be"/>
    <ds:schemaRef ds:uri="http://schemas.microsoft.com/office/2006/documentManagement/types"/>
    <ds:schemaRef ds:uri="31322bdf-de49-46e9-81fc-4b1e61ee085f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890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NFL Attendance Forecasting System</dc:title>
  <dc:subject>PptxGenJS Presentation</dc:subject>
  <dc:creator>Cody Thompson</dc:creator>
  <cp:lastModifiedBy>Thompson, Cody</cp:lastModifiedBy>
  <cp:revision>3</cp:revision>
  <dcterms:created xsi:type="dcterms:W3CDTF">2026-04-30T17:27:17Z</dcterms:created>
  <dcterms:modified xsi:type="dcterms:W3CDTF">2026-05-01T00:10:20Z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0x010100675E7993ACB88C4DADB02475D215B762</vt:lpwstr>
  </property>
</Properties>
</file>